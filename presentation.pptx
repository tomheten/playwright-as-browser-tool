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5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3000" b="1" u="none" strike="noStrike">
                <a:solidFill>
                  <a:schemeClr val="lt1"/>
                </a:solidFill>
                <a:effectLst/>
                <a:uFillTx/>
                <a:latin typeface="TT Norms Pro"/>
              </a:rPr>
              <a:t>Click to move the slide</a:t>
            </a:r>
            <a:endParaRPr lang="ru-RU" sz="3000" b="1" u="none" strike="noStrike">
              <a:solidFill>
                <a:schemeClr val="lt1"/>
              </a:solidFill>
              <a:effectLst/>
              <a:uFillTx/>
              <a:latin typeface="TT Norms Pro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4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4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4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6AD3BDB-020B-4B75-B848-AFF1A574D0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32160" cy="33937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120" cy="39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43"/>
          </p:nvPr>
        </p:nvSpPr>
        <p:spPr>
          <a:xfrm>
            <a:off x="4402080" y="9553680"/>
            <a:ext cx="3368160" cy="50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EBF26C-1154-4248-BB8C-EAE7EB986502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1680" cy="110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40732FF-FBEB-428E-8111-F07D32B98C4E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350C3FD-122D-48DE-B550-0C3FEAA15417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937E63D-15ED-4950-8D4E-7D76691D8AEC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440" cy="87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tabLst>
                <a:tab pos="0" algn="l"/>
              </a:tabLst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0920" cy="438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440" cy="351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813EA83-3802-4DA2-A51A-D0477D55B04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5680" cy="4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tabLst>
                <a:tab pos="0" algn="l"/>
              </a:tabLst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pic"/>
          </p:nvPr>
        </p:nvSpPr>
        <p:spPr>
          <a:xfrm>
            <a:off x="1792440" y="45972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5680" cy="60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FEBB4E-A3CA-4F40-9C66-9D906C85F6AB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gradFill rotWithShape="0">
          <a:gsLst>
            <a:gs pos="0">
              <a:srgbClr val="1F497D"/>
            </a:gs>
            <a:gs pos="28000">
              <a:srgbClr val="17375E"/>
            </a:gs>
            <a:gs pos="71000">
              <a:srgbClr val="0000AF"/>
            </a:gs>
            <a:gs pos="100000">
              <a:srgbClr val="1F497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4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 hasCustomPrompt="1"/>
          </p:nvPr>
        </p:nvSpPr>
        <p:spPr>
          <a:xfrm>
            <a:off x="521640" y="1416240"/>
            <a:ext cx="2835720" cy="286956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ru-RU" sz="3000" b="1" u="none" strike="noStrike">
                <a:solidFill>
                  <a:schemeClr val="lt1"/>
                </a:solidFill>
                <a:effectLst/>
                <a:uFillTx/>
                <a:latin typeface="TT Norms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000" b="1" u="none" strike="noStrike">
                <a:solidFill>
                  <a:schemeClr val="lt1"/>
                </a:solidFill>
                <a:effectLst/>
                <a:uFillTx/>
                <a:latin typeface="TT Norms Pro"/>
              </a:rPr>
              <a:t>Название презентации</a:t>
            </a:r>
            <a:br>
              <a:rPr sz="3000"/>
            </a:br>
            <a:r>
              <a:rPr lang="ru-RU" sz="3000" b="1" u="none" strike="noStrike">
                <a:solidFill>
                  <a:schemeClr val="lt1"/>
                </a:solidFill>
                <a:effectLst/>
                <a:uFillTx/>
                <a:latin typeface="TT Norms Pro"/>
              </a:rPr>
              <a:t>максимум </a:t>
            </a:r>
            <a:br>
              <a:rPr sz="3000"/>
            </a:br>
            <a:r>
              <a:rPr lang="ru-RU" sz="3000" b="1" u="none" strike="noStrike">
                <a:solidFill>
                  <a:schemeClr val="lt1"/>
                </a:solidFill>
                <a:effectLst/>
                <a:uFillTx/>
                <a:latin typeface="TT Norms Pro"/>
              </a:rPr>
              <a:t>в 4 строки</a:t>
            </a:r>
            <a:endParaRPr lang="ru-RU" sz="3000" b="1" u="none" strike="noStrike">
              <a:solidFill>
                <a:schemeClr val="lt1"/>
              </a:solidFill>
              <a:effectLst/>
              <a:uFillTx/>
              <a:latin typeface="TT Norms Pro"/>
            </a:endParaRPr>
          </a:p>
        </p:txBody>
      </p:sp>
      <p:pic>
        <p:nvPicPr>
          <p:cNvPr id="27" name="Рисунок 9"/>
          <p:cNvPicPr/>
          <p:nvPr/>
        </p:nvPicPr>
        <p:blipFill>
          <a:blip r:embed="rId3"/>
          <a:stretch/>
        </p:blipFill>
        <p:spPr>
          <a:xfrm>
            <a:off x="433800" y="528120"/>
            <a:ext cx="852480" cy="59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60C2F3-8994-4C3F-9453-F03674681C2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6680" cy="438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343080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200" cy="438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528B8ED-E29D-4648-A3C7-9771F5B9CEAB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67C9B4F-EFEA-4E8C-80D5-5EB6C12B1A0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E4AAB9B-0DAB-4BF1-96AF-A703B1B85F3C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7C66F17-3270-41AD-8359-DE514FF1F494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1680" cy="102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1680" cy="112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2DE2B79-BDA7-45D6-BDD3-F8B7F5904561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7760" cy="339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7760" cy="339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6F265A1-203D-4359-B4AF-5DEF0167C2C5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tabLst>
                <a:tab pos="0" algn="l"/>
              </a:tabLst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560" cy="47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560" cy="296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000" cy="47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000" cy="296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dt" idx="37"/>
          </p:nvPr>
        </p:nvSpPr>
        <p:spPr>
          <a:xfrm>
            <a:off x="45720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7"/>
          <p:cNvSpPr>
            <a:spLocks noGrp="1"/>
          </p:cNvSpPr>
          <p:nvPr>
            <p:ph type="ftr" idx="38"/>
          </p:nvPr>
        </p:nvSpPr>
        <p:spPr>
          <a:xfrm>
            <a:off x="3124080" y="47671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8"/>
          <p:cNvSpPr>
            <a:spLocks noGrp="1"/>
          </p:cNvSpPr>
          <p:nvPr>
            <p:ph type="sldNum" idx="39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C5EB508-05FF-473D-B553-5C50E3396B31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hyperlink" Target="https://chromedevtools.github.io/devtools-protocol/" TargetMode="External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playwright.help/python/docs/intro" TargetMode="External"/><Relationship Id="rId2" Type="http://schemas.openxmlformats.org/officeDocument/2006/relationships/hyperlink" Target="https://github.com/apify/crawlee" TargetMode="External"/><Relationship Id="rId3" Type="http://schemas.openxmlformats.org/officeDocument/2006/relationships/hyperlink" Target="https://github.com/daijro/camoufox/tree/main/python" TargetMode="External"/><Relationship Id="rId4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github.com/Tomheten/playwright-as-browser-tool" TargetMode="Externa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 hasCustomPrompt="1"/>
          </p:nvPr>
        </p:nvSpPr>
        <p:spPr>
          <a:xfrm>
            <a:off x="516960" y="1785960"/>
            <a:ext cx="2968200" cy="203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700" b="1" u="none" strike="noStrike">
                <a:solidFill>
                  <a:schemeClr val="lt1"/>
                </a:solidFill>
                <a:effectLst/>
                <a:uFillTx/>
                <a:latin typeface="TT Norms Pro"/>
              </a:rPr>
              <a:t>Magic of Playwright</a:t>
            </a:r>
            <a:endParaRPr lang="ru-RU" sz="2700" b="1" u="none" strike="noStrike">
              <a:solidFill>
                <a:schemeClr val="lt1"/>
              </a:solidFill>
              <a:effectLst/>
              <a:uFillTx/>
              <a:latin typeface="TT Norms Pro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516960" y="3943440"/>
            <a:ext cx="2835720" cy="71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500" b="0" u="none" strike="noStrike">
                <a:solidFill>
                  <a:schemeClr val="lt1">
                    <a:alpha val="67000"/>
                  </a:schemeClr>
                </a:solidFill>
                <a:effectLst/>
                <a:uFillTx/>
                <a:latin typeface="TT Norms Pro"/>
              </a:rPr>
              <a:t>Борис Медошин</a:t>
            </a:r>
            <a:endParaRPr lang="en-US" sz="1500" b="0" u="none" strike="noStrike">
              <a:solidFill>
                <a:schemeClr val="lt1">
                  <a:alpha val="67000"/>
                </a:schemeClr>
              </a:solidFill>
              <a:effectLst/>
              <a:uFillTx/>
              <a:latin typeface="TT Norm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 чем доклад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Playwright обычно используется в тестовом фреймворке.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Сегодня поговорим о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Playwright как библиотеке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Запуск вне тест-флоу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Подключение к уже запущенному браузеру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Сбор артефактов (трейсы, видео, логи)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RPC между Python и браузером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Перехват и мокирование трафика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Стандартный тест-флоу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Picture 71"/>
          <p:cNvPicPr/>
          <p:nvPr/>
        </p:nvPicPr>
        <p:blipFill>
          <a:blip r:embed="rId1"/>
          <a:stretch/>
        </p:blipFill>
        <p:spPr>
          <a:xfrm>
            <a:off x="3102120" y="1200240"/>
            <a:ext cx="2938320" cy="339372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57200" y="1199880"/>
            <a:ext cx="8228880" cy="339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Что такое CDP?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7" name="Picture 74"/>
          <p:cNvPicPr/>
          <p:nvPr/>
        </p:nvPicPr>
        <p:blipFill>
          <a:blip r:embed="rId1"/>
          <a:stretch/>
        </p:blipFill>
        <p:spPr>
          <a:xfrm>
            <a:off x="343800" y="1446480"/>
            <a:ext cx="3621240" cy="331632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160520" y="1498680"/>
            <a:ext cx="4722840" cy="331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Chrome DevTools Protocol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протокол общения с браузером.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Любой инструмент может управлять браузером через CDP.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457200" y="984960"/>
            <a:ext cx="80571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sng" strike="noStrike">
                <a:solidFill>
                  <a:srgbClr val="0000FF"/>
                </a:solidFill>
                <a:effectLst/>
                <a:uFillTx/>
                <a:latin typeface="Calibri"/>
                <a:hlinkClick r:id="rId2"/>
              </a:rPr>
              <a:t>https://chromedevtools.github.io/devtools-protocol/</a:t>
            </a:r>
            <a:r>
              <a:rPr lang="en-US" sz="24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3"/>
          <p:cNvPicPr/>
          <p:nvPr/>
        </p:nvPicPr>
        <p:blipFill>
          <a:blip r:embed="rId3"/>
          <a:stretch/>
        </p:blipFill>
        <p:spPr>
          <a:xfrm>
            <a:off x="6889320" y="3161160"/>
            <a:ext cx="1625400" cy="160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Подключение к запущенному браузеру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Picture 77"/>
          <p:cNvPicPr/>
          <p:nvPr/>
        </p:nvPicPr>
        <p:blipFill>
          <a:blip r:embed="rId1"/>
          <a:stretch/>
        </p:blipFill>
        <p:spPr>
          <a:xfrm>
            <a:off x="3846600" y="1200240"/>
            <a:ext cx="1449360" cy="339372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457200" y="1199880"/>
            <a:ext cx="8228880" cy="339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Преимущества использования как библиотеки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Обход анти-бот защит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Сайт видит обычный пользовательский браузер - Нет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webdriver=true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и подозрительных флагов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Отладка сложных сценариев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Можно подключиться к любому моменту работы браузера - Исследовать состояние через CDP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Автоматизация рутины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Взаимодействие с внутренними админками - Парсинг данных из корпоративных систем - Сбор метрик и аналитики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Возможности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Сбор артефактов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Трейсы (DOM-снепшоты, timeline) - Видео (screencast) - Логи (console, network) - HAR (полный сетевой дамп)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RPC между Python и браузером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page.evaluate()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выполнение JS -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page.expose_function()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вызов Python из JS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Перехват и мокирование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page.route()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перехват запросов - Подмена ответов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Полезные ссылки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Документация на русском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 -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sng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  <a:hlinkClick r:id="rId1"/>
              </a:rPr>
              <a:t>https://playwright.help/python/docs/intro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Популярный скраппер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sng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  <a:hlinkClick r:id="rId2"/>
              </a:rPr>
              <a:t>https://github.com/apify/crawlee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Антидетект браузер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sng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  <a:hlinkClick r:id="rId3"/>
              </a:rPr>
              <a:t>https://github.com/daijro/camoufox/tree/main/python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Всем спасибо!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Репозиторий с примерами: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https://github.com/Tomheten/playwright-as-browser-tool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2" name="Picture 2"/>
          <p:cNvPicPr/>
          <p:nvPr/>
        </p:nvPicPr>
        <p:blipFill>
          <a:blip r:embed="rId2"/>
          <a:stretch/>
        </p:blipFill>
        <p:spPr>
          <a:xfrm>
            <a:off x="5697000" y="2311560"/>
            <a:ext cx="2212200" cy="221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LibreOffice/26.8.1.1$Windows_X86_64 LibreOffice_project/bf6ef2662401c7d6dce671ab4deb26ee0af3a7c1</Application>
  <AppVersion>15.0000</AppVersion>
  <Words>226</Words>
  <Paragraphs>29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2026-10-19T09:12:47Z</dcterms:created>
  <dc:creator/>
  <dc:description/>
  <dc:language>en-US</dc:language>
  <cp:lastModifiedBy/>
  <dcterms:modified xsi:type="dcterms:W3CDTF">2026-10-23T00:05:03Z</dcterms:modified>
  <cp:revision>6</cp:revision>
  <dc:subject/>
  <dc:title>Magic of Playwright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