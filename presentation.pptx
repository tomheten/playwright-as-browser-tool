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147482548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 type="screen16x9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53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76376-FA16-4034-96D7-927A61D92BB8}" type="datetimeFigureOut">
              <a:rPr lang="ru-RU" smtClean="0"/>
              <a:t>19.10.26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30D15E-D5A2-448B-BC6C-CB880E31A1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488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FCD48-D913-CC53-D7F1-FB7A3051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E700E2E-D356-1FE0-6B0C-4D2860B33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77CEE63-B2DA-D083-30EA-B7869DF70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D6FEBD3-C476-C6F6-AF99-99D12A5B4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7BB8BA-B2DA-0F42-BC82-BC9D7E40A1DF}" type="slidenum">
              <a:rPr kumimoji="0" lang="ru-RU" sz="120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219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0737CE-F6A7-43E0-BAA2-AA94897F2DF2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0D569C-172A-4F1A-9F45-00DE4B3A412B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05920"/>
            <a:ext cx="2057040" cy="43884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05920"/>
            <a:ext cx="6019560" cy="43884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42EE8D-EA0D-4BF9-B129-5133F6D653AC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3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4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5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2EA625-B5D1-4489-801B-97EBC120D331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91046C-6DB8-48EC-871F-86BD7E1CB875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6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7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8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2AC60B6-9B4B-4F72-BE6E-49E5A04829CF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343080">
              <a:lnSpc>
                <a:spcPct val="100000"/>
              </a:lnSpc>
              <a:buNone/>
              <a:defRPr lang="en-US" sz="3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buNone/>
            </a:pPr>
            <a:r>
              <a:rPr lang="en-US" sz="3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22160" y="2180160"/>
            <a:ext cx="7772040" cy="112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4308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  <a:defRPr lang="en-US" sz="15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8D62B3-A211-4EB6-B842-1DF1F6A8B350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def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def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64832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  <a:def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  <a:def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dt" idx="22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3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6"/>
          <p:cNvSpPr>
            <a:spLocks noGrp="1"/>
          </p:cNvSpPr>
          <p:nvPr>
            <p:ph type="sldNum" idx="24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49C8ABD-C3CC-4C63-9CBE-F913AFA73589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57200" y="1631160"/>
            <a:ext cx="4039920" cy="296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4645080" y="1631160"/>
            <a:ext cx="4041360" cy="296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7" name="PlaceHolder 6"/>
          <p:cNvSpPr>
            <a:spLocks noGrp="1"/>
          </p:cNvSpPr>
          <p:nvPr>
            <p:ph type="dt" idx="25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ftr" idx="26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9" name="PlaceHolder 8"/>
          <p:cNvSpPr>
            <a:spLocks noGrp="1"/>
          </p:cNvSpPr>
          <p:nvPr>
            <p:ph type="sldNum" idx="27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8DED4B1-8056-447A-8F59-9ECBB46FBB50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343080">
              <a:lnSpc>
                <a:spcPct val="100000"/>
              </a:lnSpc>
              <a:buNone/>
              <a:def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343080">
              <a:lnSpc>
                <a:spcPct val="100000"/>
              </a:lnSpc>
              <a:buNone/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23DC76-48F9-4523-A330-5F84725DCDDA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dt" idx="3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ftr" idx="3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sldNum" idx="3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3D19552-BC65-4019-BE3A-05CDBD52E21A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43080">
              <a:lnSpc>
                <a:spcPct val="100000"/>
              </a:lnSpc>
              <a:buNone/>
              <a:def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buNone/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def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  <a:def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343080" algn="l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028880" lvl="2" indent="-343080" algn="l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371600" lvl="3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1714680" lvl="4" indent="-343080" algn="l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  <a:defRPr lang="en-US" sz="10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dt" idx="34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5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2" name="PlaceHolder 6"/>
          <p:cNvSpPr>
            <a:spLocks noGrp="1"/>
          </p:cNvSpPr>
          <p:nvPr>
            <p:ph type="sldNum" idx="36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0EF187-C5F6-49B6-9DE0-7DA0EA983322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792440" y="3600360"/>
            <a:ext cx="5486040" cy="4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43080">
              <a:lnSpc>
                <a:spcPct val="100000"/>
              </a:lnSpc>
              <a:buNone/>
              <a:def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buNone/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pic"/>
          </p:nvPr>
        </p:nvSpPr>
        <p:spPr>
          <a:xfrm>
            <a:off x="1792440" y="459720"/>
            <a:ext cx="5486040" cy="308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buNone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1792440" y="4025520"/>
            <a:ext cx="5486040" cy="60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  <a:defRPr lang="en-US" sz="10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343080">
              <a:lnSpc>
                <a:spcPct val="100000"/>
              </a:lnSpc>
              <a:spcBef>
                <a:spcPts val="210"/>
              </a:spcBef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66" name="PlaceHolder 4"/>
          <p:cNvSpPr>
            <a:spLocks noGrp="1"/>
          </p:cNvSpPr>
          <p:nvPr>
            <p:ph type="dt" idx="3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8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8" name="PlaceHolder 6"/>
          <p:cNvSpPr>
            <a:spLocks noGrp="1"/>
          </p:cNvSpPr>
          <p:nvPr>
            <p:ph type="sldNum" idx="39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200EDB9-2BF5-4276-94D3-F401745E9A44}" type="slidenum"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bg>
      <p:bgPr>
        <a:gradFill>
          <a:gsLst>
            <a:gs pos="71000">
              <a:srgbClr val="0000AF"/>
            </a:gs>
            <a:gs pos="28000">
              <a:schemeClr val="tx2">
                <a:lumMod val="75000"/>
              </a:schemeClr>
            </a:gs>
            <a:gs pos="0">
              <a:schemeClr val="tx2"/>
            </a:gs>
            <a:gs pos="100000">
              <a:schemeClr val="tx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A8566DB-6C26-50B5-724B-2AB9C6C6E5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B1F14C-C583-AA09-D63A-4F16D1A5AA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1494" y="1416327"/>
            <a:ext cx="2835995" cy="2869924"/>
          </a:xfrm>
          <a:prstGeom prst="rect">
            <a:avLst/>
          </a:prstGeom>
        </p:spPr>
        <p:txBody>
          <a:bodyPr lIns="0" anchor="ctr">
            <a:normAutofit/>
          </a:bodyPr>
          <a:lstStyle>
            <a:lvl1pPr algn="l">
              <a:defRPr sz="3000" b="1" i="0">
                <a:solidFill>
                  <a:schemeClr val="bg1"/>
                </a:solidFill>
                <a:latin typeface="TT Norms Pro" panose="020B0103030101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максимум </a:t>
            </a:r>
            <a:br>
              <a:rPr lang="ru-RU" dirty="0"/>
            </a:br>
            <a:r>
              <a:rPr lang="ru-RU" dirty="0"/>
              <a:t>в 4 строки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ADF39CB-86ED-70E4-BB5D-4A735889C8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494" y="4360793"/>
            <a:ext cx="2835995" cy="329663"/>
          </a:xfrm>
          <a:prstGeom prst="rect">
            <a:avLst/>
          </a:prstGeom>
        </p:spPr>
        <p:txBody>
          <a:bodyPr lIns="0" anchor="b" anchorCtr="0">
            <a:noAutofit/>
          </a:bodyPr>
          <a:lstStyle>
            <a:lvl1pPr marL="0" indent="0" algn="l">
              <a:buNone/>
              <a:defRPr sz="1500" b="0" i="0">
                <a:solidFill>
                  <a:schemeClr val="bg1">
                    <a:alpha val="67395"/>
                  </a:schemeClr>
                </a:solidFill>
                <a:latin typeface="TT Norms Pro" panose="020B0103030101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 dirty="0"/>
              <a:t>Образец подзаголовка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E4DA425-E75E-2177-7705-896AAC7D52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3838" y="528162"/>
            <a:ext cx="852745" cy="59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78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436">
          <p15:clr>
            <a:srgbClr val="FBAE40"/>
          </p15:clr>
        </p15:guide>
        <p15:guide id="4" orient="horz" pos="3861">
          <p15:clr>
            <a:srgbClr val="FBAE40"/>
          </p15:clr>
        </p15:guide>
        <p15:guide id="5" pos="43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omedevtools.github.io/devtools-protocol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hyperlink" Target="https://github.com/Tomheten/playwright-as-browser-tool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F7AF7-B3CF-B8F5-6877-FEF85B4A4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C8F889-2AF1-82F7-647E-6719E83001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866" y="1786004"/>
            <a:ext cx="2968695" cy="2036574"/>
          </a:xfrm>
        </p:spPr>
        <p:txBody>
          <a:bodyPr lIns="0" tIns="0" rIns="0" bIns="0" anchor="ctr">
            <a:noAutofit/>
          </a:bodyPr>
          <a:lstStyle/>
          <a:p>
            <a:r>
              <a:rPr lang="en-US" sz="2700" dirty="0"/>
              <a:t>Magic of Playwright</a:t>
            </a:r>
            <a:endParaRPr lang="ru-RU" sz="2700" dirty="0"/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1D6FC0F1-5EDA-614A-4EC4-D6B384458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6865" y="3943334"/>
            <a:ext cx="2835995" cy="717305"/>
          </a:xfrm>
        </p:spPr>
        <p:txBody>
          <a:bodyPr lIns="0" tIns="0" rIns="0" bIns="0" anchor="b" anchorCtr="0">
            <a:normAutofit/>
          </a:bodyPr>
          <a:lstStyle/>
          <a:p>
            <a:r>
              <a:rPr lang="ru-RU" dirty="0"/>
              <a:t>Борис </a:t>
            </a:r>
            <a:r>
              <a:rPr lang="ru-RU" dirty="0" err="1"/>
              <a:t>Медошин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48961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 чем доклад</a:t>
            </a: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Playwright обычно используется в тестовом фреймворке.</a:t>
            </a:r>
          </a:p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Сегодня поговорим о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Playwright как библиотеке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Запуск вне тест-флоу</a:t>
            </a: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Подключение к уже запущенному браузеру</a:t>
            </a: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Сбор артефактов (трейсы, видео, логи)</a:t>
            </a: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RPC между Python и браузером</a:t>
            </a:r>
          </a:p>
          <a:p>
            <a:pPr marL="343080" indent="-343080" algn="l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Перехват и мокирование трафика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Стандартный тест-флоу</a:t>
            </a:r>
          </a:p>
        </p:txBody>
      </p:sp>
      <p:pic>
        <p:nvPicPr>
          <p:cNvPr id="72" name="Picture 71"/>
          <p:cNvPicPr/>
          <p:nvPr/>
        </p:nvPicPr>
        <p:blipFill>
          <a:blip r:embed="rId2"/>
          <a:stretch/>
        </p:blipFill>
        <p:spPr>
          <a:xfrm>
            <a:off x="3102120" y="1200240"/>
            <a:ext cx="2938680" cy="339408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16000"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948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Что</a:t>
            </a:r>
            <a:r>
              <a:rPr lang="en-US" sz="33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33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такое</a:t>
            </a:r>
            <a:r>
              <a:rPr lang="en-US" sz="33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CDP?</a:t>
            </a:r>
          </a:p>
        </p:txBody>
      </p:sp>
      <p:pic>
        <p:nvPicPr>
          <p:cNvPr id="75" name="Picture 74"/>
          <p:cNvPicPr/>
          <p:nvPr/>
        </p:nvPicPr>
        <p:blipFill>
          <a:blip r:embed="rId2"/>
          <a:stretch/>
        </p:blipFill>
        <p:spPr>
          <a:xfrm>
            <a:off x="343727" y="1446651"/>
            <a:ext cx="3621600" cy="3316714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160593" y="1498722"/>
            <a:ext cx="4723348" cy="331671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Chrome </a:t>
            </a:r>
            <a:r>
              <a:rPr lang="en-US" sz="24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DevTools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Protocol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протокол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общения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с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браузером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</a:p>
          <a:p>
            <a:pPr indent="0" algn="l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Любой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инструмент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может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управлять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браузером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через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CDP.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D883E-52B3-43F6-AA46-04BDADBF99F5}"/>
              </a:ext>
            </a:extLst>
          </p:cNvPr>
          <p:cNvSpPr txBox="1"/>
          <p:nvPr/>
        </p:nvSpPr>
        <p:spPr>
          <a:xfrm>
            <a:off x="457200" y="984986"/>
            <a:ext cx="80576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80808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https://chromedevtools.github.io/devtools-protocol/</a:t>
            </a:r>
            <a:r>
              <a:rPr lang="en-US" sz="2400" b="0" dirty="0">
                <a:solidFill>
                  <a:srgbClr val="80808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2400" b="0" dirty="0">
              <a:solidFill>
                <a:srgbClr val="A9B7C6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A3237-5E09-4760-9B3E-2393EB8B7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226" y="3161305"/>
            <a:ext cx="1625600" cy="1606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Подключение к запущенному браузеру</a:t>
            </a:r>
          </a:p>
        </p:txBody>
      </p:sp>
      <p:pic>
        <p:nvPicPr>
          <p:cNvPr id="78" name="Picture 77"/>
          <p:cNvPicPr/>
          <p:nvPr/>
        </p:nvPicPr>
        <p:blipFill>
          <a:blip r:embed="rId2"/>
          <a:stretch/>
        </p:blipFill>
        <p:spPr>
          <a:xfrm>
            <a:off x="3846600" y="1200240"/>
            <a:ext cx="1449720" cy="339408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Преимущества использования как библиотеки</a:t>
            </a: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Обход анти-бот защит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- Сайт видит обычный пользовательский браузер - Нет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webdriver=true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и подозрительных флагов</a:t>
            </a:r>
          </a:p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Отладка сложных сценариев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- Можно подключиться к любому моменту работы браузера - Исследовать состояние через CDP</a:t>
            </a:r>
          </a:p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Автоматизация рутины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- Взаимодействие с внутренними админками - Парсинг данных из корпоративных систем - Сбор метрик и аналитики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Возможности</a:t>
            </a: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Сбор артефактов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- Трейсы (DOM-снепшоты, timeline) - Видео (screencast) - Логи (console, network) - HAR (полный сетевой дамп)</a:t>
            </a:r>
          </a:p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RPC между Python и браузером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-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page.evaluate()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выполнение JS -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page.expose_function()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вызов Python из JS</a:t>
            </a:r>
          </a:p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Перехват и мокирование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-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page.route()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перехват запросов - Подмена ответов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3430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Всем спасибо!</a:t>
            </a: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Репозиторий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с </a:t>
            </a:r>
            <a:r>
              <a:rPr lang="en-US" sz="24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примерами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lang="en-US" sz="2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0" u="sng" strike="noStrike" dirty="0">
                <a:solidFill>
                  <a:schemeClr val="dk1"/>
                </a:solidFill>
                <a:effectLst/>
                <a:uFillTx/>
                <a:latin typeface="Calibri"/>
                <a:hlinkClick r:id="rId2"/>
              </a:rPr>
              <a:t>https://github.com/Tomheten/playwright-as-browser-tool</a:t>
            </a:r>
            <a:endParaRPr lang="en-US" sz="2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0F92F3-3027-4A53-AE0E-28059425E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6978" y="2311690"/>
            <a:ext cx="2212626" cy="22126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226</Words>
  <Application>Microsoft Office PowerPoint</Application>
  <PresentationFormat>On-screen Show (16:9)</PresentationFormat>
  <Paragraphs>29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Courier New</vt:lpstr>
      <vt:lpstr>Times New Roman</vt:lpstr>
      <vt:lpstr>TT Norms Pro</vt:lpstr>
      <vt:lpstr>Office Theme</vt:lpstr>
      <vt:lpstr>Magic of Playwright</vt:lpstr>
      <vt:lpstr>О чем доклад</vt:lpstr>
      <vt:lpstr>Стандартный тест-флоу</vt:lpstr>
      <vt:lpstr>Что такое CDP?</vt:lpstr>
      <vt:lpstr>Подключение к запущенному браузеру</vt:lpstr>
      <vt:lpstr>Преимущества использования как библиотеки</vt:lpstr>
      <vt:lpstr>Возможности</vt:lpstr>
      <vt:lpstr>Всем спасибо!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of Playwright</dc:title>
  <dc:subject/>
  <dc:creator/>
  <dc:description/>
  <cp:lastModifiedBy>Boris Medoshin</cp:lastModifiedBy>
  <cp:revision>5</cp:revision>
  <dcterms:created xsi:type="dcterms:W3CDTF">2026-10-19T09:12:47Z</dcterms:created>
  <dcterms:modified xsi:type="dcterms:W3CDTF">2026-10-19T10:28:23Z</dcterms:modified>
  <dc:language>en-US</dc:language>
</cp:coreProperties>
</file>